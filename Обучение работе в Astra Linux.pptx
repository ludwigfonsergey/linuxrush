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at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4660"/>
  </p:normalViewPr>
  <p:slideViewPr>
    <p:cSldViewPr snapToGrid="0">
      <p:cViewPr varScale="1">
        <p:scale>
          <a:sx n="90" d="100"/>
          <a:sy n="90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793790" y="152013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lang="ru-RU" sz="4450" b="1" dirty="0" smtClean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Учебная платформа</a:t>
            </a:r>
            <a:endParaRPr lang="en-US" sz="4450" b="1" i="0" u="none" strike="noStrike" cap="none" dirty="0" smtClean="0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lang="ru-RU" sz="4450" b="1" dirty="0" smtClean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по </a:t>
            </a:r>
            <a:r>
              <a:rPr lang="en-US" sz="4450" b="1" dirty="0" err="1" smtClean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AstraLinux</a:t>
            </a:r>
            <a:r>
              <a:rPr lang="ru-RU" sz="4450" b="1" dirty="0" smtClean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4450" b="0" i="0" u="none" strike="noStrike" cap="none" dirty="0"/>
          </a:p>
        </p:txBody>
      </p:sp>
      <p:sp>
        <p:nvSpPr>
          <p:cNvPr id="46" name="Google Shape;46;p10"/>
          <p:cNvSpPr/>
          <p:nvPr/>
        </p:nvSpPr>
        <p:spPr>
          <a:xfrm>
            <a:off x="793789" y="3598574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en-US" sz="22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Готовим</a:t>
            </a:r>
            <a:r>
              <a:rPr lang="en-US" sz="22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специалистов</a:t>
            </a:r>
            <a:r>
              <a:rPr lang="en-US" sz="22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2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востребованных</a:t>
            </a:r>
            <a:r>
              <a:rPr lang="en-US" sz="22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в </a:t>
            </a:r>
            <a:r>
              <a:rPr lang="en-US" sz="2200" b="0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РФ</a:t>
            </a:r>
          </a:p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endParaRPr lang="en-US" sz="2200" dirty="0">
              <a:solidFill>
                <a:srgbClr val="4A4A45"/>
              </a:solidFill>
              <a:latin typeface="Lato"/>
              <a:sym typeface="Lato"/>
            </a:endParaRPr>
          </a:p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endParaRPr lang="en-US" sz="2200" b="0" i="0" u="none" strike="noStrike" cap="none" dirty="0" smtClean="0">
              <a:solidFill>
                <a:srgbClr val="4A4A45"/>
              </a:solidFill>
              <a:latin typeface="Lato"/>
              <a:sym typeface="Lato"/>
            </a:endParaRPr>
          </a:p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endParaRPr lang="en-US" sz="2200" b="0" i="0" u="none" strike="noStrike" cap="none" dirty="0" smtClean="0">
              <a:solidFill>
                <a:srgbClr val="4A4A45"/>
              </a:solidFill>
              <a:latin typeface="Lato"/>
              <a:sym typeface="Lato"/>
            </a:endParaRPr>
          </a:p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endParaRPr lang="en-US" sz="2200" dirty="0">
              <a:solidFill>
                <a:srgbClr val="4A4A45"/>
              </a:solidFill>
              <a:latin typeface="Lato"/>
              <a:sym typeface="Lato"/>
            </a:endParaRPr>
          </a:p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ru-RU" sz="2200" dirty="0" smtClean="0">
                <a:solidFill>
                  <a:srgbClr val="4A4A45"/>
                </a:solidFill>
                <a:sym typeface="Lato"/>
              </a:rPr>
              <a:t>Автор</a:t>
            </a:r>
            <a:r>
              <a:rPr lang="en-US" sz="2200" dirty="0" smtClean="0">
                <a:solidFill>
                  <a:srgbClr val="4A4A45"/>
                </a:solidFill>
                <a:sym typeface="Lato"/>
              </a:rPr>
              <a:t>: </a:t>
            </a:r>
            <a:r>
              <a:rPr lang="ru-RU" sz="2200" dirty="0" smtClean="0">
                <a:solidFill>
                  <a:srgbClr val="4A4A45"/>
                </a:solidFill>
                <a:sym typeface="Lato"/>
              </a:rPr>
              <a:t>Катков Сергей</a:t>
            </a:r>
            <a:endParaRPr lang="en-US" sz="2200" dirty="0" smtClean="0">
              <a:solidFill>
                <a:srgbClr val="4A4A45"/>
              </a:solidFill>
              <a:sym typeface="Lato"/>
            </a:endParaRPr>
          </a:p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ru-RU" sz="2200" dirty="0" smtClean="0">
                <a:solidFill>
                  <a:srgbClr val="4A4A45"/>
                </a:solidFill>
                <a:sym typeface="Lato"/>
              </a:rPr>
              <a:t>Наставник</a:t>
            </a:r>
            <a:r>
              <a:rPr lang="en-US" sz="2200" dirty="0" smtClean="0">
                <a:solidFill>
                  <a:srgbClr val="4A4A45"/>
                </a:solidFill>
                <a:sym typeface="Lato"/>
              </a:rPr>
              <a:t>: </a:t>
            </a:r>
            <a:r>
              <a:rPr lang="ru-RU" sz="2200" dirty="0" smtClean="0">
                <a:solidFill>
                  <a:srgbClr val="4A4A45"/>
                </a:solidFill>
                <a:sym typeface="Lato"/>
              </a:rPr>
              <a:t>Пискун Анна</a:t>
            </a:r>
            <a:endParaRPr sz="2200" b="0" i="0" u="none" strike="noStrike" cap="none" dirty="0"/>
          </a:p>
        </p:txBody>
      </p:sp>
      <p:sp>
        <p:nvSpPr>
          <p:cNvPr id="47" name="Google Shape;47;p10"/>
          <p:cNvSpPr/>
          <p:nvPr/>
        </p:nvSpPr>
        <p:spPr>
          <a:xfrm>
            <a:off x="793790" y="516647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endParaRPr sz="1750" b="0" i="0" u="none" strike="noStrike" cap="none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021" y="0"/>
            <a:ext cx="7373379" cy="90785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793790" y="1350526"/>
            <a:ext cx="6622852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lang="en-US" sz="4450" b="1" i="0" u="none" strike="noStrike" cap="non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Зачем знать Astra Linux?</a:t>
            </a:r>
            <a:endParaRPr sz="4450" b="0" i="0" u="none" strike="noStrike" cap="none"/>
          </a:p>
        </p:txBody>
      </p:sp>
      <p:sp>
        <p:nvSpPr>
          <p:cNvPr id="54" name="Google Shape;54;p11"/>
          <p:cNvSpPr/>
          <p:nvPr/>
        </p:nvSpPr>
        <p:spPr>
          <a:xfrm>
            <a:off x="793790" y="251293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7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 условиях активного перехода России на отечественное программное обеспечение, знание Astra Linux становится критически важным навыком, открывающим двери к востребованным карьерным возможностям.</a:t>
            </a:r>
            <a:endParaRPr sz="1750" b="0" i="0" u="none" strike="noStrike" cap="none"/>
          </a:p>
        </p:txBody>
      </p:sp>
      <p:pic>
        <p:nvPicPr>
          <p:cNvPr id="55" name="Google Shape;55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3493889"/>
            <a:ext cx="914876" cy="9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/>
          <p:nvPr/>
        </p:nvSpPr>
        <p:spPr>
          <a:xfrm>
            <a:off x="1992154" y="3493889"/>
            <a:ext cx="2960251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en-US" sz="22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Востребованность на рынке труда</a:t>
            </a:r>
            <a:endParaRPr sz="2200" b="0" i="0" u="none" strike="noStrike" cap="none"/>
          </a:p>
        </p:txBody>
      </p:sp>
      <p:sp>
        <p:nvSpPr>
          <p:cNvPr id="57" name="Google Shape;57;p11"/>
          <p:cNvSpPr/>
          <p:nvPr/>
        </p:nvSpPr>
        <p:spPr>
          <a:xfrm>
            <a:off x="1992154" y="4338638"/>
            <a:ext cx="2960251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7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Astra Linux является ключевой ОС в государственном и корпоративном секторах, создавая высокий спрос на квалифицированных специалистов.</a:t>
            </a:r>
            <a:endParaRPr sz="1750" b="0" i="0" u="none" strike="noStrike" cap="none"/>
          </a:p>
        </p:txBody>
      </p:sp>
      <p:pic>
        <p:nvPicPr>
          <p:cNvPr id="58" name="Google Shape;58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5893" y="3493889"/>
            <a:ext cx="914876" cy="9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/>
          <p:nvPr/>
        </p:nvSpPr>
        <p:spPr>
          <a:xfrm>
            <a:off x="6434257" y="3493889"/>
            <a:ext cx="295560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en-US" sz="22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Проблема адаптации</a:t>
            </a:r>
            <a:endParaRPr sz="2200" b="0" i="0" u="none" strike="noStrike" cap="none"/>
          </a:p>
        </p:txBody>
      </p:sp>
      <p:sp>
        <p:nvSpPr>
          <p:cNvPr id="60" name="Google Shape;60;p11"/>
          <p:cNvSpPr/>
          <p:nvPr/>
        </p:nvSpPr>
        <p:spPr>
          <a:xfrm>
            <a:off x="6434257" y="3984308"/>
            <a:ext cx="2960251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7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Традиционное обучение сосредоточено на Windows, оставляя выпускников неподготовленными к работе с отечественными системами.</a:t>
            </a:r>
            <a:endParaRPr sz="1750" b="0" i="0" u="none" strike="noStrike" cap="none"/>
          </a:p>
        </p:txBody>
      </p:sp>
      <p:pic>
        <p:nvPicPr>
          <p:cNvPr id="61" name="Google Shape;6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77995" y="3493889"/>
            <a:ext cx="914876" cy="9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/>
          <p:nvPr/>
        </p:nvSpPr>
        <p:spPr>
          <a:xfrm>
            <a:off x="10876359" y="349388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en-US" sz="22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Наше решение</a:t>
            </a:r>
            <a:endParaRPr sz="2200" b="0" i="0" u="none" strike="noStrike" cap="none"/>
          </a:p>
        </p:txBody>
      </p:sp>
      <p:sp>
        <p:nvSpPr>
          <p:cNvPr id="63" name="Google Shape;63;p11"/>
          <p:cNvSpPr/>
          <p:nvPr/>
        </p:nvSpPr>
        <p:spPr>
          <a:xfrm>
            <a:off x="10876359" y="3984308"/>
            <a:ext cx="2960251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7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Мы предлагаем актуальные знания, которые обеспечат конкурентное преимущество и уверенный старт в карьере.</a:t>
            </a:r>
            <a:endParaRPr sz="1750" b="0" i="0" u="none" strike="noStrike" cap="none"/>
          </a:p>
        </p:txBody>
      </p:sp>
      <p:sp>
        <p:nvSpPr>
          <p:cNvPr id="64" name="Google Shape;64;p11"/>
          <p:cNvSpPr/>
          <p:nvPr/>
        </p:nvSpPr>
        <p:spPr>
          <a:xfrm>
            <a:off x="12864925" y="7595250"/>
            <a:ext cx="1765500" cy="6345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1379890" y="1003599"/>
            <a:ext cx="4393287" cy="54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450"/>
              <a:buFont typeface="Lato"/>
              <a:buNone/>
            </a:pPr>
            <a:r>
              <a:rPr lang="en-US" sz="345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Что</a:t>
            </a:r>
            <a:r>
              <a:rPr lang="en-US" sz="3450" b="1" i="0" u="none" strike="noStrike" cap="none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45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мы</a:t>
            </a:r>
            <a:r>
              <a:rPr lang="en-US" sz="3450" b="1" i="0" u="none" strike="noStrike" cap="none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45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предлагаем</a:t>
            </a:r>
            <a:r>
              <a:rPr lang="en-US" sz="3450" b="1" i="0" u="none" strike="noStrike" cap="none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3450" b="0" i="0" u="none" strike="noStrike" cap="none" dirty="0"/>
          </a:p>
        </p:txBody>
      </p:sp>
      <p:sp>
        <p:nvSpPr>
          <p:cNvPr id="71" name="Google Shape;71;p12"/>
          <p:cNvSpPr/>
          <p:nvPr/>
        </p:nvSpPr>
        <p:spPr>
          <a:xfrm>
            <a:off x="7910623" y="1888808"/>
            <a:ext cx="5467358" cy="49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50"/>
              <a:buFont typeface="Lato"/>
              <a:buNone/>
            </a:pPr>
            <a:r>
              <a:rPr lang="ru-RU" sz="1600" b="1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Цель</a:t>
            </a:r>
            <a:r>
              <a:rPr lang="en-US" sz="1600" b="0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ru-RU" sz="1600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создать </a:t>
            </a:r>
            <a:r>
              <a:rPr lang="en-US" sz="1600" b="0" i="0" u="none" strike="noStrike" cap="none" dirty="0" err="1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инновационную</a:t>
            </a:r>
            <a:r>
              <a:rPr lang="en-US" sz="1600" b="0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образовательную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платформу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разработанную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специально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молодого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поколения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делая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обучение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Astra Linux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увлекательным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60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эффективным</a:t>
            </a:r>
            <a:r>
              <a:rPr lang="en-US" sz="160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b="0" i="0" u="none" strike="noStrike" cap="none" dirty="0"/>
          </a:p>
        </p:txBody>
      </p:sp>
      <p:sp>
        <p:nvSpPr>
          <p:cNvPr id="74" name="Google Shape;74;p12"/>
          <p:cNvSpPr/>
          <p:nvPr/>
        </p:nvSpPr>
        <p:spPr>
          <a:xfrm>
            <a:off x="9641443" y="2816781"/>
            <a:ext cx="2196584" cy="274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None/>
            </a:pPr>
            <a:endParaRPr sz="1700" b="0" i="0" u="none" strike="noStrike" cap="none"/>
          </a:p>
        </p:txBody>
      </p:sp>
      <p:sp>
        <p:nvSpPr>
          <p:cNvPr id="75" name="Google Shape;75;p12"/>
          <p:cNvSpPr/>
          <p:nvPr/>
        </p:nvSpPr>
        <p:spPr>
          <a:xfrm>
            <a:off x="7908336" y="3393938"/>
            <a:ext cx="45720" cy="955238"/>
          </a:xfrm>
          <a:prstGeom prst="rect">
            <a:avLst/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2"/>
          <p:cNvSpPr/>
          <p:nvPr/>
        </p:nvSpPr>
        <p:spPr>
          <a:xfrm>
            <a:off x="8152533" y="3416798"/>
            <a:ext cx="2640806" cy="274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00"/>
              <a:buFont typeface="Lato"/>
              <a:buNone/>
            </a:pPr>
            <a:r>
              <a:rPr lang="en-US" sz="17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Интерактивные задания</a:t>
            </a:r>
            <a:endParaRPr sz="1700" b="0" i="0" u="none" strike="noStrike" cap="none"/>
          </a:p>
        </p:txBody>
      </p:sp>
      <p:sp>
        <p:nvSpPr>
          <p:cNvPr id="77" name="Google Shape;77;p12"/>
          <p:cNvSpPr/>
          <p:nvPr/>
        </p:nvSpPr>
        <p:spPr>
          <a:xfrm>
            <a:off x="8152533" y="3827444"/>
            <a:ext cx="3744039" cy="49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50"/>
              <a:buFont typeface="Lato"/>
              <a:buNone/>
            </a:pP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Практические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упражнения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позволяющие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сразу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применить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полученные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знания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50" b="0" i="0" u="none" strike="noStrike" cap="none" dirty="0"/>
          </a:p>
        </p:txBody>
      </p:sp>
      <p:sp>
        <p:nvSpPr>
          <p:cNvPr id="78" name="Google Shape;78;p12"/>
          <p:cNvSpPr/>
          <p:nvPr/>
        </p:nvSpPr>
        <p:spPr>
          <a:xfrm>
            <a:off x="7908336" y="4575752"/>
            <a:ext cx="45720" cy="1204674"/>
          </a:xfrm>
          <a:prstGeom prst="rect">
            <a:avLst/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2"/>
          <p:cNvSpPr/>
          <p:nvPr/>
        </p:nvSpPr>
        <p:spPr>
          <a:xfrm>
            <a:off x="8152533" y="4598612"/>
            <a:ext cx="2196584" cy="274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00"/>
              <a:buFont typeface="Lato"/>
              <a:buNone/>
            </a:pPr>
            <a:r>
              <a:rPr lang="en-US" sz="17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Геймификация</a:t>
            </a:r>
            <a:endParaRPr sz="1700" b="0" i="0" u="none" strike="noStrike" cap="none"/>
          </a:p>
        </p:txBody>
      </p:sp>
      <p:sp>
        <p:nvSpPr>
          <p:cNvPr id="80" name="Google Shape;80;p12"/>
          <p:cNvSpPr/>
          <p:nvPr/>
        </p:nvSpPr>
        <p:spPr>
          <a:xfrm>
            <a:off x="8152533" y="5009259"/>
            <a:ext cx="3744039" cy="74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50"/>
              <a:buFont typeface="Lato"/>
              <a:buNone/>
            </a:pPr>
            <a:r>
              <a:rPr lang="en-US" sz="13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Система баллов, уровней и достижений для поддержания мотивации и интереса к обучению.</a:t>
            </a:r>
            <a:endParaRPr sz="1350" b="0" i="0" u="none" strike="noStrike" cap="none"/>
          </a:p>
        </p:txBody>
      </p:sp>
      <p:sp>
        <p:nvSpPr>
          <p:cNvPr id="81" name="Google Shape;81;p12"/>
          <p:cNvSpPr/>
          <p:nvPr/>
        </p:nvSpPr>
        <p:spPr>
          <a:xfrm>
            <a:off x="7908336" y="6007002"/>
            <a:ext cx="45720" cy="955238"/>
          </a:xfrm>
          <a:prstGeom prst="rect">
            <a:avLst/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2"/>
          <p:cNvSpPr/>
          <p:nvPr/>
        </p:nvSpPr>
        <p:spPr>
          <a:xfrm>
            <a:off x="8152533" y="6029862"/>
            <a:ext cx="2603897" cy="274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00"/>
              <a:buFont typeface="Lato"/>
              <a:buNone/>
            </a:pPr>
            <a:r>
              <a:rPr lang="en-US" sz="17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Кроссплатформенность</a:t>
            </a:r>
            <a:endParaRPr sz="1700" b="0" i="0" u="none" strike="noStrike" cap="none"/>
          </a:p>
        </p:txBody>
      </p:sp>
      <p:sp>
        <p:nvSpPr>
          <p:cNvPr id="83" name="Google Shape;83;p12"/>
          <p:cNvSpPr/>
          <p:nvPr/>
        </p:nvSpPr>
        <p:spPr>
          <a:xfrm>
            <a:off x="8152533" y="6440509"/>
            <a:ext cx="3744039" cy="49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50"/>
              <a:buFont typeface="Lato"/>
              <a:buNone/>
            </a:pPr>
            <a:r>
              <a:rPr lang="en-US" sz="13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Доступ к курсам с любого устройства — компьютера, планшета или смартфона.</a:t>
            </a:r>
            <a:endParaRPr sz="1350" b="0" i="0" u="none" strike="noStrike" cap="none"/>
          </a:p>
        </p:txBody>
      </p:sp>
      <p:sp>
        <p:nvSpPr>
          <p:cNvPr id="84" name="Google Shape;84;p12"/>
          <p:cNvSpPr/>
          <p:nvPr/>
        </p:nvSpPr>
        <p:spPr>
          <a:xfrm>
            <a:off x="12864925" y="7595250"/>
            <a:ext cx="1765500" cy="6345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6543"/>
          <a:stretch/>
        </p:blipFill>
        <p:spPr>
          <a:xfrm>
            <a:off x="1074886" y="2067563"/>
            <a:ext cx="5222409" cy="52403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2039541" y="1015048"/>
            <a:ext cx="5546646" cy="47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000"/>
              <a:buFont typeface="Lato"/>
              <a:buNone/>
            </a:pPr>
            <a:r>
              <a:rPr lang="en-US" sz="300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Чему</a:t>
            </a:r>
            <a:r>
              <a:rPr lang="en-US" sz="3000" b="1" i="0" u="none" strike="noStrike" cap="none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00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научится</a:t>
            </a:r>
            <a:r>
              <a:rPr lang="en-US" sz="3000" b="1" i="0" u="none" strike="noStrike" cap="none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00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пользователь</a:t>
            </a:r>
            <a:r>
              <a:rPr lang="en-US" sz="3000" b="1" i="0" u="none" strike="noStrike" cap="none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3000" b="0" i="0" u="none" strike="noStrike" cap="none" dirty="0"/>
          </a:p>
        </p:txBody>
      </p:sp>
      <p:sp>
        <p:nvSpPr>
          <p:cNvPr id="91" name="Google Shape;91;p13"/>
          <p:cNvSpPr/>
          <p:nvPr/>
        </p:nvSpPr>
        <p:spPr>
          <a:xfrm>
            <a:off x="2039541" y="1713034"/>
            <a:ext cx="10551319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Наши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курсы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охватывают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весь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спектр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навыков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необходимых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уверенной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работы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в Astra Linux,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от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базового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знакомства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продвинутого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уровня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автоматизации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u="none" strike="noStrike" cap="none" dirty="0"/>
          </a:p>
        </p:txBody>
      </p:sp>
      <p:pic>
        <p:nvPicPr>
          <p:cNvPr id="92" name="Google Shape;9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9541" y="2521506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2039541" y="3032522"/>
            <a:ext cx="2256234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Особенности Astra Linux</a:t>
            </a:r>
            <a:endParaRPr sz="1500" b="0" i="0" u="none" strike="noStrike" cap="none"/>
          </a:p>
        </p:txBody>
      </p:sp>
      <p:sp>
        <p:nvSpPr>
          <p:cNvPr id="94" name="Google Shape;94;p13"/>
          <p:cNvSpPr/>
          <p:nvPr/>
        </p:nvSpPr>
        <p:spPr>
          <a:xfrm>
            <a:off x="2039541" y="3333155"/>
            <a:ext cx="3431143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Изучение уникальных характеристик и возможностей операционной системы.</a:t>
            </a:r>
            <a:endParaRPr sz="1200" b="0" i="0" u="none" strike="noStrike" cap="none"/>
          </a:p>
        </p:txBody>
      </p:sp>
      <p:pic>
        <p:nvPicPr>
          <p:cNvPr id="95" name="Google Shape;95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9509" y="2521506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5599509" y="3032522"/>
            <a:ext cx="1954530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Терминал и команды</a:t>
            </a:r>
            <a:endParaRPr sz="1500" b="0" i="0" u="none" strike="noStrike" cap="none"/>
          </a:p>
        </p:txBody>
      </p:sp>
      <p:sp>
        <p:nvSpPr>
          <p:cNvPr id="97" name="Google Shape;97;p13"/>
          <p:cNvSpPr/>
          <p:nvPr/>
        </p:nvSpPr>
        <p:spPr>
          <a:xfrm>
            <a:off x="5599509" y="3333155"/>
            <a:ext cx="3431262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Эффективная навигация и выполнение базовых операций через командную строку.</a:t>
            </a:r>
            <a:endParaRPr sz="1200" b="0" i="0" u="none" strike="noStrike" cap="none"/>
          </a:p>
        </p:txBody>
      </p:sp>
      <p:pic>
        <p:nvPicPr>
          <p:cNvPr id="98" name="Google Shape;98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59597" y="2521506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/>
          <p:nvPr/>
        </p:nvSpPr>
        <p:spPr>
          <a:xfrm>
            <a:off x="9159597" y="3032522"/>
            <a:ext cx="1911429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Файловая система</a:t>
            </a:r>
            <a:endParaRPr sz="1500" b="0" i="0" u="none" strike="noStrike" cap="none"/>
          </a:p>
        </p:txBody>
      </p:sp>
      <p:sp>
        <p:nvSpPr>
          <p:cNvPr id="100" name="Google Shape;100;p13"/>
          <p:cNvSpPr/>
          <p:nvPr/>
        </p:nvSpPr>
        <p:spPr>
          <a:xfrm>
            <a:off x="9159597" y="3333155"/>
            <a:ext cx="3431143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Понимание структуры и принципов организации данных в ОС.</a:t>
            </a:r>
            <a:endParaRPr sz="1200" b="0" i="0" u="none" strike="noStrike" cap="none"/>
          </a:p>
        </p:txBody>
      </p:sp>
      <p:pic>
        <p:nvPicPr>
          <p:cNvPr id="101" name="Google Shape;101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9541" y="3948589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/>
          <p:nvPr/>
        </p:nvSpPr>
        <p:spPr>
          <a:xfrm>
            <a:off x="2039541" y="4459605"/>
            <a:ext cx="2044541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Управление пакетами</a:t>
            </a:r>
            <a:endParaRPr sz="1500" b="0" i="0" u="none" strike="noStrike" cap="none"/>
          </a:p>
        </p:txBody>
      </p:sp>
      <p:sp>
        <p:nvSpPr>
          <p:cNvPr id="103" name="Google Shape;103;p13"/>
          <p:cNvSpPr/>
          <p:nvPr/>
        </p:nvSpPr>
        <p:spPr>
          <a:xfrm>
            <a:off x="2039541" y="4760238"/>
            <a:ext cx="3431143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Установка, обновление и удаление программного обеспечения.</a:t>
            </a:r>
            <a:endParaRPr sz="1200" b="0" i="0" u="none" strike="noStrike" cap="none"/>
          </a:p>
        </p:txBody>
      </p:sp>
      <p:pic>
        <p:nvPicPr>
          <p:cNvPr id="104" name="Google Shape;104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99509" y="3948589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/>
          <p:nvPr/>
        </p:nvSpPr>
        <p:spPr>
          <a:xfrm>
            <a:off x="5599509" y="4459605"/>
            <a:ext cx="2208371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Пользователи и группы</a:t>
            </a:r>
            <a:endParaRPr sz="1500" b="0" i="0" u="none" strike="noStrike" cap="none"/>
          </a:p>
        </p:txBody>
      </p:sp>
      <p:sp>
        <p:nvSpPr>
          <p:cNvPr id="106" name="Google Shape;106;p13"/>
          <p:cNvSpPr/>
          <p:nvPr/>
        </p:nvSpPr>
        <p:spPr>
          <a:xfrm>
            <a:off x="5599509" y="4760238"/>
            <a:ext cx="3431262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Настройка прав доступа и эффективное управление учетными записями.</a:t>
            </a:r>
            <a:endParaRPr sz="1200" b="0" i="0" u="none" strike="noStrike" cap="none"/>
          </a:p>
        </p:txBody>
      </p:sp>
      <p:pic>
        <p:nvPicPr>
          <p:cNvPr id="107" name="Google Shape;107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59597" y="3948589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/>
          <p:nvPr/>
        </p:nvSpPr>
        <p:spPr>
          <a:xfrm>
            <a:off x="9159597" y="4459605"/>
            <a:ext cx="1915835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Сеть и безопасность</a:t>
            </a:r>
            <a:endParaRPr sz="1500" b="0" i="0" u="none" strike="noStrike" cap="none"/>
          </a:p>
        </p:txBody>
      </p:sp>
      <p:sp>
        <p:nvSpPr>
          <p:cNvPr id="109" name="Google Shape;109;p13"/>
          <p:cNvSpPr/>
          <p:nvPr/>
        </p:nvSpPr>
        <p:spPr>
          <a:xfrm>
            <a:off x="9159597" y="4760238"/>
            <a:ext cx="3431143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Конфигурация сетевых параметров и основы защиты данных.</a:t>
            </a:r>
            <a:endParaRPr sz="1200" b="0" i="0" u="none" strike="noStrike" cap="none"/>
          </a:p>
        </p:txBody>
      </p:sp>
      <p:pic>
        <p:nvPicPr>
          <p:cNvPr id="110" name="Google Shape;110;p1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39541" y="5375672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2039541" y="5886688"/>
            <a:ext cx="2189440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Графические оболочки</a:t>
            </a:r>
            <a:endParaRPr sz="1500" b="0" i="0" u="none" strike="noStrike" cap="none"/>
          </a:p>
        </p:txBody>
      </p:sp>
      <p:sp>
        <p:nvSpPr>
          <p:cNvPr id="112" name="Google Shape;112;p13"/>
          <p:cNvSpPr/>
          <p:nvPr/>
        </p:nvSpPr>
        <p:spPr>
          <a:xfrm>
            <a:off x="2039541" y="6187321"/>
            <a:ext cx="3431143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Обзор различных пользовательских интерфейсов Linux.</a:t>
            </a:r>
            <a:endParaRPr sz="1200" b="0" i="0" u="none" strike="noStrike" cap="none"/>
          </a:p>
        </p:txBody>
      </p:sp>
      <p:pic>
        <p:nvPicPr>
          <p:cNvPr id="113" name="Google Shape;113;p1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99509" y="5375672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/>
          <p:nvPr/>
        </p:nvSpPr>
        <p:spPr>
          <a:xfrm>
            <a:off x="5599509" y="5886688"/>
            <a:ext cx="1911429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Bash-скриптинг</a:t>
            </a:r>
            <a:endParaRPr sz="1500" b="0" i="0" u="none" strike="noStrike" cap="none"/>
          </a:p>
        </p:txBody>
      </p:sp>
      <p:sp>
        <p:nvSpPr>
          <p:cNvPr id="115" name="Google Shape;115;p13"/>
          <p:cNvSpPr/>
          <p:nvPr/>
        </p:nvSpPr>
        <p:spPr>
          <a:xfrm>
            <a:off x="5599509" y="6187321"/>
            <a:ext cx="3431262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Автоматизация рутинных задач с помощью скриптов.</a:t>
            </a:r>
            <a:endParaRPr sz="1200" b="0" i="0" u="none" strike="noStrike" cap="none"/>
          </a:p>
        </p:txBody>
      </p:sp>
      <p:pic>
        <p:nvPicPr>
          <p:cNvPr id="116" name="Google Shape;116;p1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59597" y="5375672"/>
            <a:ext cx="382191" cy="38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9159597" y="5886688"/>
            <a:ext cx="1911429" cy="23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lang="en-US" sz="15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Основы SQLite</a:t>
            </a:r>
            <a:endParaRPr sz="1500" b="0" i="0" u="none" strike="noStrike" cap="none"/>
          </a:p>
        </p:txBody>
      </p:sp>
      <p:sp>
        <p:nvSpPr>
          <p:cNvPr id="118" name="Google Shape;118;p13"/>
          <p:cNvSpPr/>
          <p:nvPr/>
        </p:nvSpPr>
        <p:spPr>
          <a:xfrm>
            <a:off x="9159597" y="6187321"/>
            <a:ext cx="3431143" cy="4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r>
              <a:rPr lang="en-US" sz="12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Работа с реляционными базами данных на базовом уровне.</a:t>
            </a:r>
            <a:endParaRPr sz="1200" b="0" i="0" u="none" strike="noStrike" cap="none"/>
          </a:p>
        </p:txBody>
      </p:sp>
      <p:sp>
        <p:nvSpPr>
          <p:cNvPr id="119" name="Google Shape;119;p13"/>
          <p:cNvSpPr/>
          <p:nvPr/>
        </p:nvSpPr>
        <p:spPr>
          <a:xfrm>
            <a:off x="2039541" y="6712625"/>
            <a:ext cx="10551319" cy="77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00"/>
              <a:buFont typeface="Lato"/>
              <a:buNone/>
            </a:pPr>
            <a:endParaRPr b="0" i="0" u="none" strike="noStrike" cap="none" dirty="0"/>
          </a:p>
        </p:txBody>
      </p:sp>
      <p:sp>
        <p:nvSpPr>
          <p:cNvPr id="120" name="Google Shape;120;p13"/>
          <p:cNvSpPr/>
          <p:nvPr/>
        </p:nvSpPr>
        <p:spPr>
          <a:xfrm>
            <a:off x="12864925" y="7595250"/>
            <a:ext cx="1765500" cy="6345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Прямоугольник 1"/>
          <p:cNvSpPr/>
          <p:nvPr/>
        </p:nvSpPr>
        <p:spPr>
          <a:xfrm>
            <a:off x="1844396" y="7247061"/>
            <a:ext cx="12278003" cy="37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3333"/>
              </a:lnSpc>
              <a:buClr>
                <a:srgbClr val="4A4A45"/>
              </a:buClr>
              <a:buSzPts val="1200"/>
            </a:pPr>
            <a:r>
              <a:rPr lang="ru-RU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 результате обучения каждый пользователь получит </a:t>
            </a:r>
            <a:r>
              <a:rPr lang="ru-RU" dirty="0">
                <a:solidFill>
                  <a:srgbClr val="D75BE2"/>
                </a:solidFill>
                <a:latin typeface="Lato"/>
                <a:ea typeface="Lato"/>
                <a:cs typeface="Lato"/>
                <a:sym typeface="Lato"/>
              </a:rPr>
              <a:t>уверенные навыки работы в </a:t>
            </a:r>
            <a:r>
              <a:rPr lang="ru-RU" dirty="0" err="1">
                <a:solidFill>
                  <a:srgbClr val="D75BE2"/>
                </a:solidFill>
                <a:latin typeface="Lato"/>
                <a:ea typeface="Lato"/>
                <a:cs typeface="Lato"/>
                <a:sym typeface="Lato"/>
              </a:rPr>
              <a:t>Astra</a:t>
            </a:r>
            <a:r>
              <a:rPr lang="ru-RU" dirty="0">
                <a:solidFill>
                  <a:srgbClr val="D75BE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ru-RU" dirty="0" err="1">
                <a:solidFill>
                  <a:srgbClr val="D75BE2"/>
                </a:solidFill>
                <a:latin typeface="Lato"/>
                <a:ea typeface="Lato"/>
                <a:cs typeface="Lato"/>
                <a:sym typeface="Lato"/>
              </a:rPr>
              <a:t>Linux</a:t>
            </a:r>
            <a:r>
              <a:rPr lang="ru-RU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становясь ценным специалистом.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/>
          <p:nvPr/>
        </p:nvSpPr>
        <p:spPr>
          <a:xfrm>
            <a:off x="793790" y="119110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lang="en-US" sz="4450" b="1" i="0" u="none" strike="noStrike" cap="non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Наша аудитория</a:t>
            </a:r>
            <a:endParaRPr sz="4450" b="0" i="0" u="none" strike="noStrike" cap="none"/>
          </a:p>
        </p:txBody>
      </p:sp>
      <p:sp>
        <p:nvSpPr>
          <p:cNvPr id="127" name="Google Shape;127;p14"/>
          <p:cNvSpPr/>
          <p:nvPr/>
        </p:nvSpPr>
        <p:spPr>
          <a:xfrm>
            <a:off x="793790" y="235350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None/>
            </a:pP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Мы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ориентируемся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амбициозных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молодых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людей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стремящихся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построить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успешную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карьеру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в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условиях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современной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цифровой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экономики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750" b="0" i="0" u="none" strike="noStrike" cap="none" dirty="0"/>
          </a:p>
        </p:txBody>
      </p:sp>
      <p:sp>
        <p:nvSpPr>
          <p:cNvPr id="128" name="Google Shape;128;p14"/>
          <p:cNvSpPr/>
          <p:nvPr/>
        </p:nvSpPr>
        <p:spPr>
          <a:xfrm>
            <a:off x="793790" y="3334464"/>
            <a:ext cx="6407944" cy="3703915"/>
          </a:xfrm>
          <a:prstGeom prst="roundRect">
            <a:avLst>
              <a:gd name="adj" fmla="val 3950"/>
            </a:avLst>
          </a:prstGeom>
          <a:solidFill>
            <a:srgbClr val="EFECE6"/>
          </a:solidFill>
          <a:ln w="30475" cap="flat" cmpd="sng">
            <a:solidFill>
              <a:srgbClr val="CBC5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763310" y="3334464"/>
            <a:ext cx="121920" cy="3703915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1142524" y="3591758"/>
            <a:ext cx="53218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en-US" sz="2200" b="1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Студенты</a:t>
            </a:r>
            <a:r>
              <a:rPr lang="en-US" sz="2200" b="1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ru-RU" sz="2200" b="1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тех. </a:t>
            </a:r>
            <a:r>
              <a:rPr lang="en-US" sz="2200" b="1" i="0" u="none" strike="noStrike" cap="none" dirty="0" err="1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вузов</a:t>
            </a:r>
            <a:r>
              <a:rPr lang="en-US" sz="2200" b="1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00" b="1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 </a:t>
            </a:r>
            <a:r>
              <a:rPr lang="en-US" sz="2200" b="1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колледжей</a:t>
            </a:r>
            <a:endParaRPr sz="2200" b="0" i="0" u="none" strike="noStrike" cap="none" dirty="0"/>
          </a:p>
        </p:txBody>
      </p:sp>
      <p:sp>
        <p:nvSpPr>
          <p:cNvPr id="131" name="Google Shape;131;p14"/>
          <p:cNvSpPr/>
          <p:nvPr/>
        </p:nvSpPr>
        <p:spPr>
          <a:xfrm>
            <a:off x="1142524" y="4082177"/>
            <a:ext cx="5801916" cy="233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Char char="•"/>
            </a:pPr>
            <a:r>
              <a:rPr lang="ru-RU" sz="1750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Будут более </a:t>
            </a:r>
            <a:r>
              <a:rPr lang="en-US" sz="1750" b="0" i="0" u="none" strike="noStrike" cap="none" dirty="0" err="1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востребованными</a:t>
            </a:r>
            <a:r>
              <a:rPr lang="en-US" sz="1750" b="0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специалистами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после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выпуска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750" b="0" i="0" u="none" strike="noStrike" cap="none" dirty="0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Char char="•"/>
            </a:pPr>
            <a:r>
              <a:rPr lang="ru-RU" sz="1750" b="0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Распространение  </a:t>
            </a:r>
            <a:r>
              <a:rPr lang="ru-RU" sz="1750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</a:t>
            </a:r>
            <a:r>
              <a:rPr lang="en-US" sz="1750" b="0" i="0" u="none" strike="noStrike" cap="none" dirty="0" err="1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оссийского</a:t>
            </a:r>
            <a:r>
              <a:rPr lang="en-US" sz="1750" b="0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ПО</a:t>
            </a:r>
            <a:r>
              <a:rPr lang="ru-RU" sz="1750" b="0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ОС.</a:t>
            </a:r>
          </a:p>
        </p:txBody>
      </p:sp>
      <p:sp>
        <p:nvSpPr>
          <p:cNvPr id="132" name="Google Shape;132;p14"/>
          <p:cNvSpPr/>
          <p:nvPr/>
        </p:nvSpPr>
        <p:spPr>
          <a:xfrm>
            <a:off x="7428548" y="3334464"/>
            <a:ext cx="6408063" cy="3703915"/>
          </a:xfrm>
          <a:prstGeom prst="roundRect">
            <a:avLst>
              <a:gd name="adj" fmla="val 3950"/>
            </a:avLst>
          </a:prstGeom>
          <a:solidFill>
            <a:srgbClr val="EFECE6"/>
          </a:solidFill>
          <a:ln w="30475" cap="flat" cmpd="sng">
            <a:solidFill>
              <a:srgbClr val="CBC5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7398067" y="3334464"/>
            <a:ext cx="121920" cy="3703915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7777282" y="3591758"/>
            <a:ext cx="346936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00"/>
              <a:buFont typeface="Lato"/>
              <a:buNone/>
            </a:pPr>
            <a:r>
              <a:rPr lang="en-US" sz="2200" b="1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Школьники</a:t>
            </a:r>
            <a:r>
              <a:rPr lang="en-US" sz="2200" b="1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00" b="1" i="0" u="none" strike="noStrike" cap="none" dirty="0" smtClean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(8-11 </a:t>
            </a:r>
            <a:r>
              <a:rPr lang="en-US" sz="2200" b="1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классы</a:t>
            </a:r>
            <a:r>
              <a:rPr lang="en-US" sz="2200" b="1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2200" b="0" i="0" u="none" strike="noStrike" cap="none" dirty="0"/>
          </a:p>
        </p:txBody>
      </p:sp>
      <p:sp>
        <p:nvSpPr>
          <p:cNvPr id="135" name="Google Shape;135;p14"/>
          <p:cNvSpPr/>
          <p:nvPr/>
        </p:nvSpPr>
        <p:spPr>
          <a:xfrm>
            <a:off x="7777282" y="4082177"/>
            <a:ext cx="5802035" cy="269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Char char="•"/>
            </a:pP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Готовятся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к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выбору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будущей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профессии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высшего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образования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750" b="0" i="0" u="none" strike="noStrike" cap="none" dirty="0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Char char="•"/>
            </a:pP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Проходят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профориентацию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исследуя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различные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технологические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направления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750" b="0" i="0" u="none" strike="noStrike" cap="none" dirty="0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50"/>
              <a:buFont typeface="Lato"/>
              <a:buChar char="•"/>
            </a:pP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Стремятся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получить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уникальные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навыки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выходящие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за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рамки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стандартной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школьной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программы</a:t>
            </a:r>
            <a:r>
              <a:rPr lang="en-US" sz="17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750" b="0" i="0" u="none" strike="noStrike" cap="none" dirty="0"/>
          </a:p>
        </p:txBody>
      </p:sp>
      <p:sp>
        <p:nvSpPr>
          <p:cNvPr id="136" name="Google Shape;136;p14"/>
          <p:cNvSpPr/>
          <p:nvPr/>
        </p:nvSpPr>
        <p:spPr>
          <a:xfrm>
            <a:off x="12864925" y="7595250"/>
            <a:ext cx="1765500" cy="6345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/>
          <p:nvPr/>
        </p:nvSpPr>
        <p:spPr>
          <a:xfrm>
            <a:off x="2358271" y="453866"/>
            <a:ext cx="4632008" cy="44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2800"/>
              <a:buFont typeface="Lato"/>
              <a:buNone/>
            </a:pPr>
            <a:r>
              <a:rPr lang="en-US" sz="2800" b="1" i="0" u="none" strike="noStrike" cap="non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Как мы будем развиваться</a:t>
            </a:r>
            <a:endParaRPr sz="2800" b="0" i="0" u="none" strike="noStrike" cap="none"/>
          </a:p>
        </p:txBody>
      </p:sp>
      <p:sp>
        <p:nvSpPr>
          <p:cNvPr id="143" name="Google Shape;143;p15"/>
          <p:cNvSpPr/>
          <p:nvPr/>
        </p:nvSpPr>
        <p:spPr>
          <a:xfrm>
            <a:off x="1294793" y="987119"/>
            <a:ext cx="12452882" cy="37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Наш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проект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имеет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огромный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потенциал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масштабирования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начиная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с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образовательного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сектора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расширяясь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государственного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корпоративного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рынков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u="none" strike="noStrike" cap="none" dirty="0"/>
          </a:p>
        </p:txBody>
      </p:sp>
      <p:pic>
        <p:nvPicPr>
          <p:cNvPr id="144" name="Google Shape;144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8271" y="1562576"/>
            <a:ext cx="9913858" cy="4351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4040084" y="4297385"/>
            <a:ext cx="1737782" cy="53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650"/>
              <a:buFont typeface="Lato"/>
              <a:buNone/>
            </a:pPr>
            <a:r>
              <a:rPr lang="en-US" sz="1650" b="1" i="0" u="none" strike="noStrike" cap="non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Студенты и школы</a:t>
            </a:r>
            <a:endParaRPr sz="1650" b="0" i="0" u="none" strike="noStrike" cap="none"/>
          </a:p>
        </p:txBody>
      </p:sp>
      <p:sp>
        <p:nvSpPr>
          <p:cNvPr id="146" name="Google Shape;146;p15"/>
          <p:cNvSpPr/>
          <p:nvPr/>
        </p:nvSpPr>
        <p:spPr>
          <a:xfrm>
            <a:off x="4040084" y="4910860"/>
            <a:ext cx="1737782" cy="52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50"/>
              <a:buFont typeface="Lato"/>
              <a:buNone/>
            </a:pPr>
            <a:r>
              <a:rPr lang="en-US" sz="13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Внедрение в образовательных учреждениях</a:t>
            </a:r>
            <a:endParaRPr sz="1350" b="0" i="0" u="none" strike="noStrike" cap="none"/>
          </a:p>
        </p:txBody>
      </p:sp>
      <p:sp>
        <p:nvSpPr>
          <p:cNvPr id="147" name="Google Shape;147;p15"/>
          <p:cNvSpPr/>
          <p:nvPr/>
        </p:nvSpPr>
        <p:spPr>
          <a:xfrm>
            <a:off x="8919242" y="4230547"/>
            <a:ext cx="1737781" cy="537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650"/>
              <a:buFont typeface="Lato"/>
              <a:buNone/>
            </a:pPr>
            <a:r>
              <a:rPr lang="en-US" sz="1650" b="1" i="0" u="none" strike="noStrike" cap="non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Корпоративный сектор</a:t>
            </a:r>
            <a:endParaRPr sz="1650" b="0" i="0" u="none" strike="noStrike" cap="none"/>
          </a:p>
        </p:txBody>
      </p:sp>
      <p:sp>
        <p:nvSpPr>
          <p:cNvPr id="148" name="Google Shape;148;p15"/>
          <p:cNvSpPr/>
          <p:nvPr/>
        </p:nvSpPr>
        <p:spPr>
          <a:xfrm>
            <a:off x="8919242" y="4844022"/>
            <a:ext cx="1737781" cy="52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50"/>
              <a:buFont typeface="Lato"/>
              <a:buNone/>
            </a:pPr>
            <a:r>
              <a:rPr lang="en-US" sz="135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Коммерческая интеграция и сервисы</a:t>
            </a:r>
            <a:endParaRPr sz="1350" b="0" i="0" u="none" strike="noStrike" cap="none"/>
          </a:p>
        </p:txBody>
      </p:sp>
      <p:sp>
        <p:nvSpPr>
          <p:cNvPr id="149" name="Google Shape;149;p15"/>
          <p:cNvSpPr/>
          <p:nvPr/>
        </p:nvSpPr>
        <p:spPr>
          <a:xfrm>
            <a:off x="6493985" y="2018933"/>
            <a:ext cx="1737782" cy="26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650"/>
              <a:buFont typeface="Lato"/>
              <a:buNone/>
            </a:pPr>
            <a:r>
              <a:rPr lang="en-US" sz="1650" b="1" i="0" u="none" strike="noStrike" cap="non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Гос. институты</a:t>
            </a:r>
            <a:endParaRPr sz="1650" b="0" i="0" u="none" strike="noStrike" cap="none"/>
          </a:p>
        </p:txBody>
      </p:sp>
      <p:sp>
        <p:nvSpPr>
          <p:cNvPr id="150" name="Google Shape;150;p15"/>
          <p:cNvSpPr/>
          <p:nvPr/>
        </p:nvSpPr>
        <p:spPr>
          <a:xfrm>
            <a:off x="6493985" y="2363864"/>
            <a:ext cx="1737782" cy="52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50"/>
              <a:buFont typeface="Lato"/>
              <a:buNone/>
            </a:pP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Масштабирование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через</a:t>
            </a:r>
            <a:r>
              <a:rPr lang="en-US" sz="1350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госпартнёрства</a:t>
            </a:r>
            <a:endParaRPr sz="1350" b="0" i="0" u="none" strike="noStrike" cap="none" dirty="0"/>
          </a:p>
        </p:txBody>
      </p:sp>
      <p:sp>
        <p:nvSpPr>
          <p:cNvPr id="151" name="Google Shape;151;p15"/>
          <p:cNvSpPr/>
          <p:nvPr/>
        </p:nvSpPr>
        <p:spPr>
          <a:xfrm>
            <a:off x="2358271" y="6016704"/>
            <a:ext cx="9913858" cy="37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 условиях активного перехода государственных учреждений на Astra Linux, возникает острая потребность в обучении их сотрудников. Мы уже умеем эффективно обучать молодую аудиторию, что позволяет нам легко адаптировать методику и для взрослых специалистов.</a:t>
            </a:r>
            <a:endParaRPr sz="1100" b="0" i="0" u="none" strike="noStrike" cap="none"/>
          </a:p>
        </p:txBody>
      </p:sp>
      <p:sp>
        <p:nvSpPr>
          <p:cNvPr id="152" name="Google Shape;152;p15"/>
          <p:cNvSpPr/>
          <p:nvPr/>
        </p:nvSpPr>
        <p:spPr>
          <a:xfrm>
            <a:off x="2358271" y="6494502"/>
            <a:ext cx="143589" cy="17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sz="1100" b="0" i="0" u="none" strike="noStrike" cap="none"/>
          </a:p>
        </p:txBody>
      </p:sp>
      <p:sp>
        <p:nvSpPr>
          <p:cNvPr id="153" name="Google Shape;153;p15"/>
          <p:cNvSpPr/>
          <p:nvPr/>
        </p:nvSpPr>
        <p:spPr>
          <a:xfrm>
            <a:off x="2358271" y="6723340"/>
            <a:ext cx="3243977" cy="15240"/>
          </a:xfrm>
          <a:prstGeom prst="rect">
            <a:avLst/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2358271" y="6825615"/>
            <a:ext cx="1795939" cy="224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00"/>
              <a:buFont typeface="Lato"/>
              <a:buNone/>
            </a:pPr>
            <a:r>
              <a:rPr lang="en-US" sz="14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Запуск и апробация</a:t>
            </a:r>
            <a:endParaRPr sz="1400" b="0" i="0" u="none" strike="noStrike" cap="none"/>
          </a:p>
        </p:txBody>
      </p:sp>
      <p:sp>
        <p:nvSpPr>
          <p:cNvPr id="155" name="Google Shape;155;p15"/>
          <p:cNvSpPr/>
          <p:nvPr/>
        </p:nvSpPr>
        <p:spPr>
          <a:xfrm>
            <a:off x="2358271" y="7104578"/>
            <a:ext cx="3243977" cy="563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Развертывание курса для студентов и школьников, совершенствование образовательной методики.</a:t>
            </a:r>
            <a:endParaRPr sz="1100" b="0" i="0" u="none" strike="noStrike" cap="none"/>
          </a:p>
        </p:txBody>
      </p:sp>
      <p:sp>
        <p:nvSpPr>
          <p:cNvPr id="156" name="Google Shape;156;p15"/>
          <p:cNvSpPr/>
          <p:nvPr/>
        </p:nvSpPr>
        <p:spPr>
          <a:xfrm>
            <a:off x="5693212" y="6494502"/>
            <a:ext cx="143589" cy="17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1100" b="0" i="0" u="none" strike="noStrike" cap="none"/>
          </a:p>
        </p:txBody>
      </p:sp>
      <p:sp>
        <p:nvSpPr>
          <p:cNvPr id="157" name="Google Shape;157;p15"/>
          <p:cNvSpPr/>
          <p:nvPr/>
        </p:nvSpPr>
        <p:spPr>
          <a:xfrm>
            <a:off x="5693212" y="6723340"/>
            <a:ext cx="3243977" cy="15240"/>
          </a:xfrm>
          <a:prstGeom prst="rect">
            <a:avLst/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693212" y="6825615"/>
            <a:ext cx="2242304" cy="224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00"/>
              <a:buFont typeface="Lato"/>
              <a:buNone/>
            </a:pPr>
            <a:r>
              <a:rPr lang="en-US" sz="14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Расширение на госсектор</a:t>
            </a:r>
            <a:endParaRPr sz="1400" b="0" i="0" u="none" strike="noStrike" cap="none"/>
          </a:p>
        </p:txBody>
      </p:sp>
      <p:sp>
        <p:nvSpPr>
          <p:cNvPr id="159" name="Google Shape;159;p15"/>
          <p:cNvSpPr/>
          <p:nvPr/>
        </p:nvSpPr>
        <p:spPr>
          <a:xfrm>
            <a:off x="5693212" y="7104578"/>
            <a:ext cx="3243977" cy="37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Адаптация курсов для обучения сотрудников государственных учреждений и организаций.</a:t>
            </a:r>
            <a:endParaRPr sz="1100" b="0" i="0" u="none" strike="noStrike" cap="none"/>
          </a:p>
        </p:txBody>
      </p:sp>
      <p:sp>
        <p:nvSpPr>
          <p:cNvPr id="160" name="Google Shape;160;p15"/>
          <p:cNvSpPr/>
          <p:nvPr/>
        </p:nvSpPr>
        <p:spPr>
          <a:xfrm>
            <a:off x="9028152" y="6494502"/>
            <a:ext cx="143589" cy="17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sz="1100" b="0" i="0" u="none" strike="noStrike" cap="none"/>
          </a:p>
        </p:txBody>
      </p:sp>
      <p:sp>
        <p:nvSpPr>
          <p:cNvPr id="161" name="Google Shape;161;p15"/>
          <p:cNvSpPr/>
          <p:nvPr/>
        </p:nvSpPr>
        <p:spPr>
          <a:xfrm>
            <a:off x="9028152" y="6723340"/>
            <a:ext cx="3243977" cy="15240"/>
          </a:xfrm>
          <a:prstGeom prst="rect">
            <a:avLst/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9028152" y="6825615"/>
            <a:ext cx="1808202" cy="224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00"/>
              <a:buFont typeface="Lato"/>
              <a:buNone/>
            </a:pPr>
            <a:r>
              <a:rPr lang="en-US" sz="1400" b="1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Выход в корпорации</a:t>
            </a:r>
            <a:endParaRPr sz="1400" b="0" i="0" u="none" strike="noStrike" cap="none"/>
          </a:p>
        </p:txBody>
      </p:sp>
      <p:sp>
        <p:nvSpPr>
          <p:cNvPr id="163" name="Google Shape;163;p15"/>
          <p:cNvSpPr/>
          <p:nvPr/>
        </p:nvSpPr>
        <p:spPr>
          <a:xfrm>
            <a:off x="9028152" y="7104578"/>
            <a:ext cx="3243977" cy="37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Разработка специализированных программ для обучения персонала частных компаний.</a:t>
            </a:r>
            <a:endParaRPr sz="1100" b="0" i="0" u="none" strike="noStrike" cap="none"/>
          </a:p>
        </p:txBody>
      </p:sp>
      <p:sp>
        <p:nvSpPr>
          <p:cNvPr id="164" name="Google Shape;164;p15"/>
          <p:cNvSpPr/>
          <p:nvPr/>
        </p:nvSpPr>
        <p:spPr>
          <a:xfrm>
            <a:off x="12864925" y="7595250"/>
            <a:ext cx="1765500" cy="6345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996276" y="386327"/>
            <a:ext cx="3379827" cy="42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2650"/>
              <a:buFont typeface="Lato"/>
              <a:buNone/>
            </a:pPr>
            <a:r>
              <a:rPr lang="en-US" sz="265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Технологии</a:t>
            </a:r>
            <a:r>
              <a:rPr lang="en-US" sz="2650" b="1" i="0" u="none" strike="noStrike" cap="none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50" b="1" i="0" u="none" strike="noStrike" cap="none" dirty="0" err="1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проекта</a:t>
            </a:r>
            <a:endParaRPr sz="2650" b="0" i="0" u="none" strike="noStrike" cap="none" dirty="0"/>
          </a:p>
        </p:txBody>
      </p:sp>
      <p:sp>
        <p:nvSpPr>
          <p:cNvPr id="171" name="Google Shape;171;p16"/>
          <p:cNvSpPr/>
          <p:nvPr/>
        </p:nvSpPr>
        <p:spPr>
          <a:xfrm>
            <a:off x="996276" y="1126757"/>
            <a:ext cx="11649746" cy="345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050"/>
              <a:buFont typeface="Lato"/>
              <a:buNone/>
            </a:pP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Наша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платформа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построена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современном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надежном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масштабируемом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стеке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технологий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обеспечивающем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стабильность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гибкость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развития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u="none" strike="noStrike" cap="none" dirty="0"/>
          </a:p>
        </p:txBody>
      </p:sp>
      <p:sp>
        <p:nvSpPr>
          <p:cNvPr id="172" name="Google Shape;172;p16"/>
          <p:cNvSpPr/>
          <p:nvPr/>
        </p:nvSpPr>
        <p:spPr>
          <a:xfrm>
            <a:off x="996276" y="2014537"/>
            <a:ext cx="3245287" cy="5038487"/>
          </a:xfrm>
          <a:prstGeom prst="roundRect">
            <a:avLst>
              <a:gd name="adj" fmla="val 625"/>
            </a:avLst>
          </a:prstGeom>
          <a:solidFill>
            <a:srgbClr val="D75B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1131412" y="2105144"/>
            <a:ext cx="2975015" cy="1565434"/>
          </a:xfrm>
          <a:prstGeom prst="roundRect">
            <a:avLst>
              <a:gd name="adj" fmla="val 1295"/>
            </a:avLst>
          </a:prstGeom>
          <a:solidFill>
            <a:srgbClr val="E5DF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1266548" y="2240280"/>
            <a:ext cx="405527" cy="405527"/>
          </a:xfrm>
          <a:prstGeom prst="roundRect">
            <a:avLst>
              <a:gd name="adj" fmla="val 22546182"/>
            </a:avLst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8110" y="2351841"/>
            <a:ext cx="182404" cy="18240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/>
          <p:nvPr/>
        </p:nvSpPr>
        <p:spPr>
          <a:xfrm>
            <a:off x="1266548" y="2726293"/>
            <a:ext cx="1689854" cy="211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 sz="1300" b="0" i="0" u="none" strike="noStrike" cap="none"/>
          </a:p>
        </p:txBody>
      </p:sp>
      <p:sp>
        <p:nvSpPr>
          <p:cNvPr id="177" name="Google Shape;177;p16"/>
          <p:cNvSpPr/>
          <p:nvPr/>
        </p:nvSpPr>
        <p:spPr>
          <a:xfrm>
            <a:off x="1266548" y="3017877"/>
            <a:ext cx="2704743" cy="51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Lato"/>
              <a:buNone/>
            </a:pP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Мощный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гибкий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язык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программирования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идеальный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быстрой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4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разработки</a:t>
            </a:r>
            <a:r>
              <a:rPr lang="en-US" sz="114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40" b="0" i="0" u="none" strike="noStrike" cap="none" dirty="0"/>
          </a:p>
        </p:txBody>
      </p:sp>
      <p:sp>
        <p:nvSpPr>
          <p:cNvPr id="178" name="Google Shape;178;p16"/>
          <p:cNvSpPr/>
          <p:nvPr/>
        </p:nvSpPr>
        <p:spPr>
          <a:xfrm>
            <a:off x="1131412" y="3751064"/>
            <a:ext cx="2975015" cy="1565434"/>
          </a:xfrm>
          <a:prstGeom prst="roundRect">
            <a:avLst>
              <a:gd name="adj" fmla="val 1295"/>
            </a:avLst>
          </a:prstGeom>
          <a:solidFill>
            <a:srgbClr val="E5DF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1266548" y="3886200"/>
            <a:ext cx="405527" cy="405527"/>
          </a:xfrm>
          <a:prstGeom prst="roundRect">
            <a:avLst>
              <a:gd name="adj" fmla="val 22546182"/>
            </a:avLst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8110" y="3997761"/>
            <a:ext cx="182404" cy="1824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/>
          <p:nvPr/>
        </p:nvSpPr>
        <p:spPr>
          <a:xfrm>
            <a:off x="1266548" y="4372213"/>
            <a:ext cx="1689854" cy="211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Django</a:t>
            </a:r>
            <a:endParaRPr sz="1300" b="0" i="0" u="none" strike="noStrike" cap="none"/>
          </a:p>
        </p:txBody>
      </p:sp>
      <p:sp>
        <p:nvSpPr>
          <p:cNvPr id="182" name="Google Shape;182;p16"/>
          <p:cNvSpPr/>
          <p:nvPr/>
        </p:nvSpPr>
        <p:spPr>
          <a:xfrm>
            <a:off x="1266548" y="4663797"/>
            <a:ext cx="2704743" cy="51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Lato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Высокопроизводительный фреймворк, гарантирующий безопасность и масштабируемость.</a:t>
            </a:r>
            <a:endParaRPr sz="1050" b="0" i="0" u="none" strike="noStrike" cap="none"/>
          </a:p>
        </p:txBody>
      </p:sp>
      <p:sp>
        <p:nvSpPr>
          <p:cNvPr id="183" name="Google Shape;183;p16"/>
          <p:cNvSpPr/>
          <p:nvPr/>
        </p:nvSpPr>
        <p:spPr>
          <a:xfrm>
            <a:off x="1131412" y="5396984"/>
            <a:ext cx="2975015" cy="1565434"/>
          </a:xfrm>
          <a:prstGeom prst="roundRect">
            <a:avLst>
              <a:gd name="adj" fmla="val 1295"/>
            </a:avLst>
          </a:prstGeom>
          <a:solidFill>
            <a:srgbClr val="E5DF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266548" y="5532120"/>
            <a:ext cx="405527" cy="405527"/>
          </a:xfrm>
          <a:prstGeom prst="roundRect">
            <a:avLst>
              <a:gd name="adj" fmla="val 22546182"/>
            </a:avLst>
          </a:prstGeom>
          <a:solidFill>
            <a:srgbClr val="2828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8110" y="5643681"/>
            <a:ext cx="182404" cy="1824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/>
          <p:nvPr/>
        </p:nvSpPr>
        <p:spPr>
          <a:xfrm>
            <a:off x="1266548" y="6018133"/>
            <a:ext cx="1689854" cy="211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SQLite</a:t>
            </a:r>
            <a:endParaRPr sz="1300" b="0" i="0" u="none" strike="noStrike" cap="none"/>
          </a:p>
        </p:txBody>
      </p:sp>
      <p:sp>
        <p:nvSpPr>
          <p:cNvPr id="187" name="Google Shape;187;p16"/>
          <p:cNvSpPr/>
          <p:nvPr/>
        </p:nvSpPr>
        <p:spPr>
          <a:xfrm>
            <a:off x="1266548" y="6309717"/>
            <a:ext cx="2704743" cy="51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Lato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Легкая база данных, оптимальная для стартапа и не требующая сложной настройки.</a:t>
            </a:r>
            <a:endParaRPr sz="1050" b="0" i="0" u="none" strike="noStrike" cap="none"/>
          </a:p>
        </p:txBody>
      </p:sp>
      <p:sp>
        <p:nvSpPr>
          <p:cNvPr id="188" name="Google Shape;188;p16"/>
          <p:cNvSpPr/>
          <p:nvPr/>
        </p:nvSpPr>
        <p:spPr>
          <a:xfrm>
            <a:off x="6038850" y="1587579"/>
            <a:ext cx="5948005" cy="51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050"/>
              <a:buFont typeface="Lato"/>
              <a:buNone/>
            </a:pP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Выбор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этого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стека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обусловлен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стремлением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к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созданию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максимально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D75BE2"/>
                </a:solidFill>
                <a:latin typeface="Lato"/>
                <a:ea typeface="Lato"/>
                <a:cs typeface="Lato"/>
                <a:sym typeface="Lato"/>
              </a:rPr>
              <a:t>надежной</a:t>
            </a:r>
            <a:r>
              <a:rPr lang="en-US" b="0" i="0" u="none" strike="noStrike" cap="none" dirty="0">
                <a:solidFill>
                  <a:srgbClr val="D75BE2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b="0" i="0" u="none" strike="noStrike" cap="none" dirty="0" err="1">
                <a:solidFill>
                  <a:srgbClr val="D75BE2"/>
                </a:solidFill>
                <a:latin typeface="Lato"/>
                <a:ea typeface="Lato"/>
                <a:cs typeface="Lato"/>
                <a:sym typeface="Lato"/>
              </a:rPr>
              <a:t>безопасной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платформы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способной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быстро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адаптироваться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к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изменяющимся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требованиям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рынка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масштабироваться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под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растущую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аудиторию</a:t>
            </a:r>
            <a:r>
              <a:rPr lang="en-US" b="0" i="0" u="none" strike="noStrike" cap="non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u="none" strike="noStrike" cap="none" dirty="0"/>
          </a:p>
        </p:txBody>
      </p:sp>
      <p:sp>
        <p:nvSpPr>
          <p:cNvPr id="189" name="Google Shape;189;p16"/>
          <p:cNvSpPr/>
          <p:nvPr/>
        </p:nvSpPr>
        <p:spPr>
          <a:xfrm>
            <a:off x="6038850" y="3032641"/>
            <a:ext cx="5948005" cy="345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050"/>
              <a:buFont typeface="Lato"/>
              <a:buNone/>
            </a:pPr>
            <a:endParaRPr b="0" i="0" u="none" strike="noStrike" cap="none" dirty="0"/>
          </a:p>
        </p:txBody>
      </p:sp>
      <p:sp>
        <p:nvSpPr>
          <p:cNvPr id="191" name="Google Shape;191;p16"/>
          <p:cNvSpPr/>
          <p:nvPr/>
        </p:nvSpPr>
        <p:spPr>
          <a:xfrm>
            <a:off x="12864925" y="7595250"/>
            <a:ext cx="1765500" cy="6345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Прямоугольник 1"/>
          <p:cNvSpPr/>
          <p:nvPr/>
        </p:nvSpPr>
        <p:spPr>
          <a:xfrm>
            <a:off x="5933956" y="2719140"/>
            <a:ext cx="7315200" cy="64812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28571"/>
              </a:lnSpc>
              <a:buClr>
                <a:srgbClr val="4A4A45"/>
              </a:buClr>
              <a:buSzPts val="1050"/>
            </a:pPr>
            <a:r>
              <a:rPr lang="ru-RU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Наша </a:t>
            </a:r>
            <a:r>
              <a:rPr lang="ru-RU" b="1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техническая база готова к дальнейшему развитию</a:t>
            </a:r>
            <a:r>
              <a:rPr lang="ru-RU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и интеграции новых функциональных возможностей.</a:t>
            </a:r>
            <a:endParaRPr lang="ru-RU" dirty="0"/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4" t="43536" r="17583" b="8876"/>
          <a:stretch/>
        </p:blipFill>
        <p:spPr bwMode="auto">
          <a:xfrm>
            <a:off x="10100707" y="3839032"/>
            <a:ext cx="3646968" cy="148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Picture background"/>
          <p:cNvSpPr>
            <a:spLocks noChangeAspect="1" noChangeArrowheads="1"/>
          </p:cNvSpPr>
          <p:nvPr/>
        </p:nvSpPr>
        <p:spPr bwMode="auto">
          <a:xfrm>
            <a:off x="-1010093" y="-144463"/>
            <a:ext cx="1470468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1;p16"/>
          <p:cNvSpPr/>
          <p:nvPr/>
        </p:nvSpPr>
        <p:spPr>
          <a:xfrm>
            <a:off x="12864900" y="7595100"/>
            <a:ext cx="1765500" cy="6345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57060" y="691116"/>
            <a:ext cx="3817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/>
              <a:t>Заключение:</a:t>
            </a:r>
            <a:endParaRPr lang="ru-RU" sz="4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807533" y="2126512"/>
            <a:ext cx="11249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Разработана обучающая платформа по </a:t>
            </a:r>
            <a:r>
              <a:rPr lang="en-US" sz="1600" dirty="0" smtClean="0"/>
              <a:t>Astra Linux, </a:t>
            </a:r>
            <a:r>
              <a:rPr lang="ru-RU" sz="1600" dirty="0" smtClean="0"/>
              <a:t>сейчас ведется её тестирование на наличие багов и запуск его на сервере</a:t>
            </a:r>
            <a:endParaRPr lang="ru-RU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387548" y="3702408"/>
            <a:ext cx="10356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Спасибо за внимание!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6719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629</Words>
  <Application>Microsoft Office PowerPoint</Application>
  <PresentationFormat>Произвольный</PresentationFormat>
  <Paragraphs>93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Student</cp:lastModifiedBy>
  <cp:revision>6</cp:revision>
  <dcterms:modified xsi:type="dcterms:W3CDTF">2026-02-13T16:01:00Z</dcterms:modified>
</cp:coreProperties>
</file>